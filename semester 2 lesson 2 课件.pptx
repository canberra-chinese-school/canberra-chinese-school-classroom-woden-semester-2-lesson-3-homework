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19"/>
  </p:notesMasterIdLst>
  <p:sldIdLst>
    <p:sldId id="256" r:id="rId2"/>
    <p:sldId id="328" r:id="rId3"/>
    <p:sldId id="386" r:id="rId4"/>
    <p:sldId id="404" r:id="rId5"/>
    <p:sldId id="399" r:id="rId6"/>
    <p:sldId id="415" r:id="rId7"/>
    <p:sldId id="400" r:id="rId8"/>
    <p:sldId id="401" r:id="rId9"/>
    <p:sldId id="402" r:id="rId10"/>
    <p:sldId id="403" r:id="rId11"/>
    <p:sldId id="405" r:id="rId12"/>
    <p:sldId id="406" r:id="rId13"/>
    <p:sldId id="407" r:id="rId14"/>
    <p:sldId id="408" r:id="rId15"/>
    <p:sldId id="409" r:id="rId16"/>
    <p:sldId id="410" r:id="rId17"/>
    <p:sldId id="411" r:id="rId18"/>
  </p:sldIdLst>
  <p:sldSz cx="9144000" cy="5143500" type="screen16x9"/>
  <p:notesSz cx="6858000" cy="9144000"/>
  <p:embeddedFontLst>
    <p:embeddedFont>
      <p:font typeface="Amatic SC" panose="02010600030101010101" charset="-79"/>
      <p:regular r:id="rId20"/>
      <p:bold r:id="rId21"/>
    </p:embeddedFont>
    <p:embeddedFont>
      <p:font typeface="Didact Gothic" panose="02010600030101010101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60260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436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701" r:id="rId4"/>
    <p:sldLayoutId id="2147483702" r:id="rId5"/>
    <p:sldLayoutId id="214748370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2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Sem2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New Content: 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209" y="1073969"/>
            <a:ext cx="4169333" cy="3435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Since turtle needs to be installed locally to be used, most python websites don’t provide it.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So to use turtle, you can either use your local python IDE/interpreter, or use this special python website: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>
                <a:solidFill>
                  <a:schemeClr val="tx1"/>
                </a:solidFill>
              </a:rPr>
              <a:t>https://play.pyroom.app/playground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9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To use Turtle, we must import it.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US" sz="1800" dirty="0"/>
              <a:t>import turtle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To use Turtle, we must import it.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Then, we bring the turtle out.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US" sz="1800" dirty="0"/>
              <a:t>import </a:t>
            </a:r>
            <a:r>
              <a:rPr lang="en-US" sz="1800" dirty="0" smtClean="0"/>
              <a:t>turtle</a:t>
            </a:r>
          </a:p>
          <a:p>
            <a:pPr marL="0" indent="0" algn="l">
              <a:spcAft>
                <a:spcPts val="1200"/>
              </a:spcAft>
            </a:pPr>
            <a:r>
              <a:rPr lang="en-US" sz="1800" dirty="0"/>
              <a:t>t = </a:t>
            </a:r>
            <a:r>
              <a:rPr lang="en-US" sz="1800" dirty="0" err="1"/>
              <a:t>turtle.Turtle</a:t>
            </a:r>
            <a:r>
              <a:rPr lang="en-US" sz="1800" dirty="0"/>
              <a:t>()</a:t>
            </a: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029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Now let’s try to make it draw a line</a:t>
            </a:r>
          </a:p>
          <a:p>
            <a:pPr marL="0" lvl="0" indent="0" algn="l">
              <a:spcAft>
                <a:spcPts val="1200"/>
              </a:spcAft>
            </a:pPr>
            <a:endParaRPr lang="en-US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But it looks pretty bad, so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Let’s </a:t>
            </a:r>
            <a:r>
              <a:rPr lang="en-US" sz="1800" dirty="0" err="1" smtClean="0">
                <a:solidFill>
                  <a:schemeClr val="tx1"/>
                </a:solidFill>
              </a:rPr>
              <a:t>customise</a:t>
            </a:r>
            <a:r>
              <a:rPr lang="en-US" sz="1800" dirty="0" smtClean="0">
                <a:solidFill>
                  <a:schemeClr val="tx1"/>
                </a:solidFill>
              </a:rPr>
              <a:t> our drawing window</a:t>
            </a:r>
            <a:endParaRPr lang="en-US" sz="1800" dirty="0"/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297" y="1763010"/>
            <a:ext cx="19431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606" y="1844294"/>
            <a:ext cx="3380228" cy="1654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075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customise</a:t>
            </a:r>
            <a:r>
              <a:rPr lang="en-US" altLang="zh-CN" sz="1800" dirty="0" smtClean="0">
                <a:solidFill>
                  <a:schemeClr val="tx1"/>
                </a:solidFill>
              </a:rPr>
              <a:t> our drawing screen.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US" sz="1800" dirty="0" err="1"/>
              <a:t>screen.bgcolor</a:t>
            </a:r>
            <a:r>
              <a:rPr lang="en-US" sz="1800" dirty="0"/>
              <a:t>("</a:t>
            </a:r>
            <a:r>
              <a:rPr lang="en-US" sz="1800" dirty="0" err="1"/>
              <a:t>lightblue</a:t>
            </a:r>
            <a:r>
              <a:rPr lang="en-US" sz="1800" dirty="0"/>
              <a:t>")</a:t>
            </a: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changes the background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colour</a:t>
            </a:r>
            <a:r>
              <a:rPr lang="en-US" altLang="zh-CN" sz="1800" dirty="0" smtClean="0">
                <a:solidFill>
                  <a:schemeClr val="tx1"/>
                </a:solidFill>
              </a:rPr>
              <a:t> to light blue.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This also works with “green”, “lime”, “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lightgreen</a:t>
            </a:r>
            <a:r>
              <a:rPr lang="en-US" altLang="zh-CN" sz="1800" dirty="0" smtClean="0">
                <a:solidFill>
                  <a:schemeClr val="tx1"/>
                </a:solidFill>
              </a:rPr>
              <a:t>”, “red”, </a:t>
            </a:r>
            <a:r>
              <a:rPr lang="en-US" altLang="zh-CN" sz="1800" dirty="0" err="1" smtClean="0">
                <a:solidFill>
                  <a:schemeClr val="tx1"/>
                </a:solidFill>
              </a:rPr>
              <a:t>etc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394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give it a title.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 err="1" smtClean="0"/>
              <a:t>screen.title</a:t>
            </a:r>
            <a:r>
              <a:rPr lang="en-US" sz="1800" dirty="0"/>
              <a:t>("My Turtle Drawing</a:t>
            </a:r>
            <a:r>
              <a:rPr lang="en-US" sz="1800" dirty="0" smtClean="0"/>
              <a:t>")</a:t>
            </a:r>
          </a:p>
          <a:p>
            <a:pPr marL="0" lv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r>
              <a:rPr lang="en-US" sz="1800" dirty="0">
                <a:solidFill>
                  <a:schemeClr val="tx1"/>
                </a:solidFill>
              </a:rPr>
              <a:t>Then let’s give our pen a shape.</a:t>
            </a:r>
          </a:p>
          <a:p>
            <a:pPr marL="0" indent="0" algn="l">
              <a:spcAft>
                <a:spcPts val="1200"/>
              </a:spcAft>
            </a:pPr>
            <a:r>
              <a:rPr lang="en-US" sz="1800" dirty="0" err="1"/>
              <a:t>t.shape</a:t>
            </a:r>
            <a:r>
              <a:rPr lang="en-US" sz="1800" dirty="0"/>
              <a:t>("turtle")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>
                <a:solidFill>
                  <a:schemeClr val="tx1"/>
                </a:solidFill>
              </a:rPr>
              <a:t>You can replace turtle with arrow, classic, triangle, </a:t>
            </a:r>
            <a:r>
              <a:rPr lang="en-US" sz="1800" dirty="0" err="1">
                <a:solidFill>
                  <a:schemeClr val="tx1"/>
                </a:solidFill>
              </a:rPr>
              <a:t>etc</a:t>
            </a:r>
            <a:endParaRPr lang="en-US" sz="1800" dirty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035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finally set a fixed pen speed, pen size and pen color.</a:t>
            </a:r>
          </a:p>
          <a:p>
            <a:pPr algn="l"/>
            <a:r>
              <a:rPr lang="en-US" sz="1800" dirty="0" err="1"/>
              <a:t>t.speed</a:t>
            </a:r>
            <a:r>
              <a:rPr lang="en-US" sz="1800" dirty="0"/>
              <a:t>(10)</a:t>
            </a:r>
          </a:p>
          <a:p>
            <a:pPr algn="l"/>
            <a:r>
              <a:rPr lang="en-US" sz="1800" dirty="0" err="1"/>
              <a:t>t.pensize</a:t>
            </a:r>
            <a:r>
              <a:rPr lang="en-US" sz="1800" dirty="0"/>
              <a:t>(1)</a:t>
            </a:r>
          </a:p>
          <a:p>
            <a:pPr algn="l"/>
            <a:r>
              <a:rPr lang="en-US" sz="1800" dirty="0" err="1" smtClean="0"/>
              <a:t>t.pencolor</a:t>
            </a:r>
            <a:r>
              <a:rPr lang="en-US" sz="1800" dirty="0"/>
              <a:t>("black")</a:t>
            </a:r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92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The final setup (preparation) looks like this: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657" y="1864726"/>
            <a:ext cx="322897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471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But right now our turtle doesn’t do anything.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45" y="1759335"/>
            <a:ext cx="5682864" cy="2789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6181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Let’s make it draw a line.</a:t>
            </a:r>
          </a:p>
          <a:p>
            <a:pPr marL="0" indent="0" algn="l">
              <a:spcAft>
                <a:spcPts val="1200"/>
              </a:spcAft>
            </a:pPr>
            <a:r>
              <a:rPr lang="en-US" sz="1800" dirty="0" err="1"/>
              <a:t>t.forward</a:t>
            </a:r>
            <a:r>
              <a:rPr lang="en-US" sz="1800" dirty="0"/>
              <a:t>(100</a:t>
            </a:r>
            <a:r>
              <a:rPr lang="en-US" sz="1800" dirty="0" smtClean="0"/>
              <a:t>) # the forward function makes the turtle move for some steps in the direction it is facing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97" y="2541063"/>
            <a:ext cx="3928056" cy="1916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792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But what if we want it to make a turn?</a:t>
            </a:r>
          </a:p>
          <a:p>
            <a:pPr marL="0" indent="0" algn="l">
              <a:spcAft>
                <a:spcPts val="1200"/>
              </a:spcAft>
            </a:pPr>
            <a:r>
              <a:rPr lang="en-US" sz="1800" dirty="0" err="1" smtClean="0"/>
              <a:t>t.left</a:t>
            </a:r>
            <a:r>
              <a:rPr lang="en-US" sz="1800" dirty="0" smtClean="0"/>
              <a:t>(90) makes the </a:t>
            </a:r>
            <a:r>
              <a:rPr lang="en-US" sz="1800" dirty="0"/>
              <a:t>turtle make a 90</a:t>
            </a:r>
            <a:r>
              <a:rPr lang="en-US" sz="1800" dirty="0" smtClean="0"/>
              <a:t>° left turn </a:t>
            </a:r>
          </a:p>
          <a:p>
            <a:pPr marL="0" indent="0" algn="l">
              <a:spcAft>
                <a:spcPts val="1200"/>
              </a:spcAft>
            </a:pPr>
            <a:r>
              <a:rPr lang="en-US" sz="1800" dirty="0" err="1" smtClean="0"/>
              <a:t>t.right</a:t>
            </a:r>
            <a:r>
              <a:rPr lang="en-US" sz="1800" dirty="0" smtClean="0"/>
              <a:t>(90) makes </a:t>
            </a:r>
            <a:r>
              <a:rPr lang="en-US" sz="1800" dirty="0"/>
              <a:t>the turtle make a 90 </a:t>
            </a:r>
            <a:r>
              <a:rPr lang="en-US" sz="1800" dirty="0" smtClean="0"/>
              <a:t>° right turn</a:t>
            </a:r>
          </a:p>
          <a:p>
            <a:pPr mar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1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Now let’s try this: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447" y="1796200"/>
            <a:ext cx="1533525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972" y="2491525"/>
            <a:ext cx="2082821" cy="1931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167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square?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99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square?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534297" y="2415473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280" y="2409718"/>
            <a:ext cx="1628775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233" y="1576052"/>
            <a:ext cx="2819400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8000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373054" y="0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smtClean="0"/>
              <a:t>Turtle</a:t>
            </a:r>
            <a:endParaRPr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297" y="1626500"/>
            <a:ext cx="5926560" cy="1577946"/>
          </a:xfrm>
          <a:prstGeom prst="rect">
            <a:avLst/>
          </a:prstGeom>
        </p:spPr>
      </p:pic>
      <p:sp>
        <p:nvSpPr>
          <p:cNvPr id="7" name="Google Shape;3209;p76"/>
          <p:cNvSpPr txBox="1">
            <a:spLocks/>
          </p:cNvSpPr>
          <p:nvPr/>
        </p:nvSpPr>
        <p:spPr>
          <a:xfrm>
            <a:off x="2315210" y="3499145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sp>
        <p:nvSpPr>
          <p:cNvPr id="6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1458560" y="1373954"/>
            <a:ext cx="6078034" cy="3214230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Exercise:</a:t>
            </a:r>
          </a:p>
          <a:p>
            <a:pPr marL="0" lvl="0" indent="0" algn="l">
              <a:spcAft>
                <a:spcPts val="1200"/>
              </a:spcAft>
            </a:pPr>
            <a:r>
              <a:rPr lang="en-US" altLang="zh-CN" sz="1800" dirty="0" smtClean="0">
                <a:solidFill>
                  <a:schemeClr val="tx1"/>
                </a:solidFill>
              </a:rPr>
              <a:t>How do we make a square?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We can shorten the code</a:t>
            </a:r>
          </a:p>
          <a:p>
            <a:pPr marL="0" lvl="0" indent="0" algn="l">
              <a:spcAft>
                <a:spcPts val="1200"/>
              </a:spcAft>
            </a:pPr>
            <a:r>
              <a:rPr lang="en-US" sz="1800" dirty="0" smtClean="0">
                <a:solidFill>
                  <a:schemeClr val="tx1"/>
                </a:solidFill>
              </a:rPr>
              <a:t>a little bit</a:t>
            </a: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sz="1800" dirty="0" smtClean="0">
              <a:solidFill>
                <a:schemeClr val="tx1"/>
              </a:solidFill>
            </a:endParaRPr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US" sz="1800" dirty="0"/>
          </a:p>
          <a:p>
            <a:pPr marL="0" lvl="0" indent="0" algn="l">
              <a:spcAft>
                <a:spcPts val="1200"/>
              </a:spcAft>
            </a:pP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534297" y="2415473"/>
            <a:ext cx="6229432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528" y="3099511"/>
            <a:ext cx="19431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137" y="1543049"/>
            <a:ext cx="24765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98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4130</TotalTime>
  <Words>336</Words>
  <Application>Microsoft Office PowerPoint</Application>
  <PresentationFormat>On-screen Show (16:9)</PresentationFormat>
  <Paragraphs>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Amatic SC</vt:lpstr>
      <vt:lpstr>Arial</vt:lpstr>
      <vt:lpstr>Didact Gothic</vt:lpstr>
      <vt:lpstr>Giant Doodles Newsletter by Slidesgo</vt:lpstr>
      <vt:lpstr>Python week 2</vt:lpstr>
      <vt:lpstr>New Content: 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  <vt:lpstr>Turtle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79</cp:revision>
  <dcterms:modified xsi:type="dcterms:W3CDTF">2026-08-02T01:51:30Z</dcterms:modified>
</cp:coreProperties>
</file>